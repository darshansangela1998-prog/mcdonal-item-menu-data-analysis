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A02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A02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8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DD8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E24A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0629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Burger</c:v>
                  </c:pt>
                  <c:pt idx="1">
                    <c:v>Chicken</c:v>
                  </c:pt>
                  <c:pt idx="2">
                    <c:v>Pasta</c:v>
                  </c:pt>
                  <c:pt idx="3">
                    <c:v>Sandwich</c:v>
                  </c:pt>
                  <c:pt idx="4">
                    <c:v>Sides</c:v>
                  </c:pt>
                  <c:pt idx="5">
                    <c:v>Fries</c:v>
                  </c:pt>
                  <c:pt idx="6">
                    <c:v>Breakfast</c:v>
                  </c:pt>
                  <c:pt idx="7">
                    <c:v>Wraps</c:v>
                  </c:pt>
                  <c:pt idx="8">
                    <c:v>Salad</c:v>
                  </c:pt>
                  <c:pt idx="9">
                    <c:v>Shakes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21460</c:v>
                </c:pt>
                <c:pt idx="1">
                  <c:v>12283</c:v>
                </c:pt>
                <c:pt idx="2">
                  <c:v>9147</c:v>
                </c:pt>
                <c:pt idx="3">
                  <c:v>8132</c:v>
                </c:pt>
                <c:pt idx="4">
                  <c:v>2817</c:v>
                </c:pt>
                <c:pt idx="5">
                  <c:v>2463</c:v>
                </c:pt>
                <c:pt idx="6">
                  <c:v>1269</c:v>
                </c:pt>
                <c:pt idx="7">
                  <c:v>1222</c:v>
                </c:pt>
                <c:pt idx="8">
                  <c:v>1136</c:v>
                </c:pt>
                <c:pt idx="9">
                  <c:v>1073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FC72C"/>
            </a:solidFill>
            <a:ln w="38100" cap="flat">
              <a:solidFill>
                <a:srgbClr val="FFC7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DA020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C72C"/>
              </a:solidFill>
              <a:ln w="9525" cap="flat">
                <a:solidFill>
                  <a:srgbClr val="FFC7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20607</c:v>
                </c:pt>
                <c:pt idx="1">
                  <c:v>19484</c:v>
                </c:pt>
                <c:pt idx="2">
                  <c:v>20913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DA020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A020E"/>
              </a:solidFill>
              <a:effectLst/>
            </c:spPr>
          </c:dPt>
          <c:dPt>
            <c:idx val="1"/>
            <c:bubble3D val="0"/>
            <c:spPr>
              <a:solidFill>
                <a:srgbClr val="FFC72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44029</c:v>
                </c:pt>
                <c:pt idx="1">
                  <c:v>16974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5556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A020E"/>
              </a:solidFill>
              <a:effectLst/>
            </c:spPr>
          </c:dPt>
          <c:dPt>
            <c:idx val="1"/>
            <c:bubble3D val="0"/>
            <c:spPr>
              <a:solidFill>
                <a:srgbClr val="FFC72C"/>
              </a:solidFill>
              <a:effectLst/>
            </c:spPr>
          </c:dPt>
          <c:dPt>
            <c:idx val="2"/>
            <c:bubble3D val="0"/>
            <c:spPr>
              <a:solidFill>
                <a:srgbClr val="FB8C00"/>
              </a:solidFill>
              <a:effectLst/>
            </c:spPr>
          </c:dPt>
          <c:dPt>
            <c:idx val="3"/>
            <c:bubble3D val="0"/>
            <c:spPr>
              <a:solidFill>
                <a:srgbClr val="43A047"/>
              </a:solidFill>
              <a:effectLst/>
            </c:spPr>
          </c:dPt>
          <c:dPt>
            <c:idx val="4"/>
            <c:bubble3D val="0"/>
            <c:spPr>
              <a:solidFill>
                <a:srgbClr val="1E88E5"/>
              </a:solidFill>
              <a:effectLst/>
            </c:spPr>
          </c:dPt>
          <c:dPt>
            <c:idx val="5"/>
            <c:bubble3D val="0"/>
            <c:spPr>
              <a:solidFill>
                <a:srgbClr val="8E24AA"/>
              </a:solidFill>
              <a:effectLst/>
            </c:spPr>
          </c:dPt>
          <c:dPt>
            <c:idx val="6"/>
            <c:bubble3D val="0"/>
            <c:spPr>
              <a:solidFill>
                <a:srgbClr val="F0629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Burger</c:v>
                </c:pt>
                <c:pt idx="1">
                  <c:v>Chicken</c:v>
                </c:pt>
                <c:pt idx="2">
                  <c:v>Pasta</c:v>
                </c:pt>
                <c:pt idx="3">
                  <c:v>Sandwich</c:v>
                </c:pt>
                <c:pt idx="4">
                  <c:v>Sides</c:v>
                </c:pt>
                <c:pt idx="5">
                  <c:v>Fries</c:v>
                </c:pt>
                <c:pt idx="6">
                  <c:v>Others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21460</c:v>
                </c:pt>
                <c:pt idx="1">
                  <c:v>12283</c:v>
                </c:pt>
                <c:pt idx="2">
                  <c:v>9147</c:v>
                </c:pt>
                <c:pt idx="3">
                  <c:v>8132</c:v>
                </c:pt>
                <c:pt idx="4">
                  <c:v>2817</c:v>
                </c:pt>
                <c:pt idx="5">
                  <c:v>2463</c:v>
                </c:pt>
                <c:pt idx="6">
                  <c:v>3701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DA02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A02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A020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A020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A020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A020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A020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11AM</c:v>
                  </c:pt>
                  <c:pt idx="1">
                    <c:v>12PM</c:v>
                  </c:pt>
                  <c:pt idx="2">
                    <c:v>1PM</c:v>
                  </c:pt>
                  <c:pt idx="3">
                    <c:v>2PM</c:v>
                  </c:pt>
                  <c:pt idx="4">
                    <c:v>3PM</c:v>
                  </c:pt>
                  <c:pt idx="5">
                    <c:v>4PM</c:v>
                  </c:pt>
                  <c:pt idx="6">
                    <c:v>5PM</c:v>
                  </c:pt>
                  <c:pt idx="7">
                    <c:v>6PM</c:v>
                  </c:pt>
                  <c:pt idx="8">
                    <c:v>7PM</c:v>
                  </c:pt>
                  <c:pt idx="9">
                    <c:v>8PM</c:v>
                  </c:pt>
                  <c:pt idx="10">
                    <c:v>9PM</c:v>
                  </c:pt>
                  <c:pt idx="11">
                    <c:v>10PM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288</c:v>
                </c:pt>
                <c:pt idx="1">
                  <c:v>647</c:v>
                </c:pt>
                <c:pt idx="2">
                  <c:v>595</c:v>
                </c:pt>
                <c:pt idx="3">
                  <c:v>426</c:v>
                </c:pt>
                <c:pt idx="4">
                  <c:v>357</c:v>
                </c:pt>
                <c:pt idx="5">
                  <c:v>480</c:v>
                </c:pt>
                <c:pt idx="6">
                  <c:v>623</c:v>
                </c:pt>
                <c:pt idx="7">
                  <c:v>596</c:v>
                </c:pt>
                <c:pt idx="8">
                  <c:v>498</c:v>
                </c:pt>
                <c:pt idx="9">
                  <c:v>413</c:v>
                </c:pt>
                <c:pt idx="10">
                  <c:v>289</c:v>
                </c:pt>
                <c:pt idx="11">
                  <c:v>152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DA02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A02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44029</c:v>
                </c:pt>
                <c:pt idx="1">
                  <c:v>16974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A02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A02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A0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Meatball
Marinara</c:v>
                  </c:pt>
                  <c:pt idx="1">
                    <c:v>Qtr Pounder
+Cheese</c:v>
                  </c:pt>
                  <c:pt idx="2">
                    <c:v>Angus Third
Pounder</c:v>
                  </c:pt>
                  <c:pt idx="3">
                    <c:v>Bulgogi
Burger</c:v>
                  </c:pt>
                  <c:pt idx="4">
                    <c:v>Big Mac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4225</c:v>
                </c:pt>
                <c:pt idx="1">
                  <c:v>3959</c:v>
                </c:pt>
                <c:pt idx="2">
                  <c:v>3907</c:v>
                </c:pt>
                <c:pt idx="3">
                  <c:v>3816</c:v>
                </c:pt>
                <c:pt idx="4">
                  <c:v>3726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FC7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A02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A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Big Mac</c:v>
                  </c:pt>
                  <c:pt idx="1">
                    <c:v>Side Salad</c:v>
                  </c:pt>
                  <c:pt idx="2">
                    <c:v>Bulgogi
Burger</c:v>
                  </c:pt>
                  <c:pt idx="3">
                    <c:v>Qtr Pounder
+Cheese</c:v>
                  </c:pt>
                  <c:pt idx="4">
                    <c:v>French Fries
(Large)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622</c:v>
                </c:pt>
                <c:pt idx="1">
                  <c:v>620</c:v>
                </c:pt>
                <c:pt idx="2">
                  <c:v>588</c:v>
                </c:pt>
                <c:pt idx="3">
                  <c:v>583</c:v>
                </c:pt>
                <c:pt idx="4">
                  <c:v>571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0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371600" cy="13716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A02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400" kern="0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McDONALD'S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Analytics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3337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3977640"/>
            <a:ext cx="384048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160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March 2023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526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12,234 Order Records  |  32 Menu Items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92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1097280"/>
            <a:ext cx="2743200" cy="1737360"/>
          </a:xfrm>
          <a:prstGeom prst="rect">
            <a:avLst/>
          </a:prstGeom>
          <a:solidFill>
            <a:srgbClr val="DA020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207008"/>
            <a:ext cx="2743200" cy="90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$61,003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0" y="2052828"/>
            <a:ext cx="274320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03920" y="1097280"/>
            <a:ext cx="2743200" cy="17373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0" y="1207008"/>
            <a:ext cx="2743200" cy="90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5,370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03920" y="2052828"/>
            <a:ext cx="274320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3200400"/>
            <a:ext cx="2743200" cy="173736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3310128"/>
            <a:ext cx="2743200" cy="90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$11.36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0" y="4155948"/>
            <a:ext cx="274320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3200400"/>
            <a:ext cx="2743200" cy="173736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03920" y="3310128"/>
            <a:ext cx="2743200" cy="90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Mac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503920" y="4155948"/>
            <a:ext cx="274320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59436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for Smarter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2023  |  McDonald's Sales Overview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43200" cy="1280160"/>
          </a:xfrm>
          <a:prstGeom prst="rect">
            <a:avLst/>
          </a:prstGeom>
          <a:solidFill>
            <a:srgbClr val="DA020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$61,003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600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743200" cy="12801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5,370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154680" y="1600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743200" cy="128016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$11.36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1600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06840" y="1005840"/>
            <a:ext cx="2743200" cy="128016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0684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2,370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006840" y="1600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Avg Items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0684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Per Day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487168"/>
            <a:ext cx="5669280" cy="3017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2487168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($)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28600" y="278892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6263640" y="2487168"/>
            <a:ext cx="5669280" cy="3017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3"/>
          <p:cNvSpPr/>
          <p:nvPr/>
        </p:nvSpPr>
        <p:spPr>
          <a:xfrm>
            <a:off x="6263640" y="2487168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($)</a:t>
            </a:r>
            <a:endParaRPr lang="en-US" sz="10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6263640" y="2788920"/>
          <a:ext cx="566928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6263640" y="4663440"/>
            <a:ext cx="2743200" cy="3017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5"/>
          <p:cNvSpPr/>
          <p:nvPr/>
        </p:nvSpPr>
        <p:spPr>
          <a:xfrm>
            <a:off x="6263640" y="466344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</a:t>
            </a:r>
            <a:endParaRPr lang="en-US" sz="1000" dirty="0"/>
          </a:p>
        </p:txBody>
      </p:sp>
      <p:graphicFrame>
        <p:nvGraphicFramePr>
          <p:cNvPr id="30" name="Chart 2" descr=""/>
          <p:cNvGraphicFramePr/>
          <p:nvPr/>
        </p:nvGraphicFramePr>
        <p:xfrm>
          <a:off x="6263640" y="4965192"/>
          <a:ext cx="274320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1" name="Shape 26"/>
          <p:cNvSpPr/>
          <p:nvPr/>
        </p:nvSpPr>
        <p:spPr>
          <a:xfrm>
            <a:off x="9189720" y="4663440"/>
            <a:ext cx="2743200" cy="3017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2" name="Text 27"/>
          <p:cNvSpPr/>
          <p:nvPr/>
        </p:nvSpPr>
        <p:spPr>
          <a:xfrm>
            <a:off x="9189720" y="466344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ITEMS (by Orders)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9189720" y="51023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Mac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0515600" y="5138928"/>
            <a:ext cx="2286000" cy="18288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35" name="Text 30"/>
          <p:cNvSpPr/>
          <p:nvPr/>
        </p:nvSpPr>
        <p:spPr>
          <a:xfrm>
            <a:off x="12838176" y="51023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9189720" y="53949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Salad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0515600" y="5431536"/>
            <a:ext cx="2278650" cy="18288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8" name="Text 33"/>
          <p:cNvSpPr/>
          <p:nvPr/>
        </p:nvSpPr>
        <p:spPr>
          <a:xfrm>
            <a:off x="12830826" y="539496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9189720" y="56875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Bulgogi Burger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0515600" y="5724144"/>
            <a:ext cx="2161042" cy="18288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1" name="Text 36"/>
          <p:cNvSpPr/>
          <p:nvPr/>
        </p:nvSpPr>
        <p:spPr>
          <a:xfrm>
            <a:off x="12713218" y="56875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588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9189720" y="59801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Qtr Pounder+Cheese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0515600" y="6016752"/>
            <a:ext cx="2142666" cy="18288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4" name="Text 39"/>
          <p:cNvSpPr/>
          <p:nvPr/>
        </p:nvSpPr>
        <p:spPr>
          <a:xfrm>
            <a:off x="12694842" y="59801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583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9189720" y="62727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Fries (Lg)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0515600" y="6309360"/>
            <a:ext cx="2098563" cy="18288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7" name="Text 42"/>
          <p:cNvSpPr/>
          <p:nvPr/>
        </p:nvSpPr>
        <p:spPr>
          <a:xfrm>
            <a:off x="12650739" y="62727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A0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Monthly Breakdown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CATEGORY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234440"/>
          <a:ext cx="566928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914400"/>
            <a:ext cx="5669280" cy="5669280"/>
          </a:xfrm>
          <a:prstGeom prst="rect">
            <a:avLst/>
          </a:prstGeom>
          <a:solidFill>
            <a:srgbClr val="23233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REVENUE INSIGHTS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1600200"/>
            <a:ext cx="384048" cy="384048"/>
          </a:xfrm>
          <a:prstGeom prst="ellipse">
            <a:avLst/>
          </a:prstGeom>
          <a:solidFill>
            <a:srgbClr val="DA020E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95160" y="1600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 Dominate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95160" y="18745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 category leads with $21,460 — 35.2% of total Q1 revenue, significantly outpacing all other categories.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92240" y="2560320"/>
            <a:ext cx="384048" cy="384048"/>
          </a:xfrm>
          <a:prstGeom prst="ellipse">
            <a:avLst/>
          </a:prstGeom>
          <a:solidFill>
            <a:srgbClr val="DA020E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🍗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95160" y="2560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is #2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95160" y="2834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items generated $12,283 (20.1%), driven by McNuggets, wraps and sandwiches across all months.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92240" y="3520440"/>
            <a:ext cx="384048" cy="384048"/>
          </a:xfrm>
          <a:prstGeom prst="ellipse">
            <a:avLst/>
          </a:prstGeom>
          <a:solidFill>
            <a:srgbClr val="DA020E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🍝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95160" y="35204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Surprise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95160" y="3794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contributed $9,147 (15.0%), the 3rd largest category — showing strong demand beyond the classic menu.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92240" y="4480560"/>
            <a:ext cx="384048" cy="384048"/>
          </a:xfrm>
          <a:prstGeom prst="ellipse">
            <a:avLst/>
          </a:prstGeom>
          <a:solidFill>
            <a:srgbClr val="DA020E"/>
          </a:solidFill>
          <a:ln/>
        </p:spPr>
      </p:sp>
      <p:sp>
        <p:nvSpPr>
          <p:cNvPr id="22" name="Text 19"/>
          <p:cNvSpPr/>
          <p:nvPr/>
        </p:nvSpPr>
        <p:spPr>
          <a:xfrm>
            <a:off x="6492240" y="4480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99516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Peak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995160" y="47548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had the highest revenue at $20,913, a 7.3% rise from February — indicating strong end-of-quarter momentum.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92240" y="5440680"/>
            <a:ext cx="384048" cy="384048"/>
          </a:xfrm>
          <a:prstGeom prst="ellipse">
            <a:avLst/>
          </a:prstGeom>
          <a:solidFill>
            <a:srgbClr val="DA020E"/>
          </a:solidFill>
          <a:ln/>
        </p:spPr>
      </p:sp>
      <p:sp>
        <p:nvSpPr>
          <p:cNvPr id="26" name="Text 23"/>
          <p:cNvSpPr/>
          <p:nvPr/>
        </p:nvSpPr>
        <p:spPr>
          <a:xfrm>
            <a:off x="649224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95160" y="5440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Dip Recovered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995160" y="57150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dipped to $19,484 but bounced back in March. Overall Q1 performance remained stable and consistent.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PATTERNS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Traffic &amp; Day-of-Week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7772400" cy="3017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05840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ORDER VOLUME (11AM – 11PM)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28600" y="130759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5257800"/>
            <a:ext cx="7772400" cy="3017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5257800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TRAFFIC INSIGHTS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" y="5577840"/>
            <a:ext cx="2423160" cy="100584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12" name="Text 9"/>
          <p:cNvSpPr/>
          <p:nvPr/>
        </p:nvSpPr>
        <p:spPr>
          <a:xfrm>
            <a:off x="228600" y="5577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PM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28600" y="60350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647 orders  |  Lunch Peak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834640" y="5577840"/>
            <a:ext cx="242316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Text 12"/>
          <p:cNvSpPr/>
          <p:nvPr/>
        </p:nvSpPr>
        <p:spPr>
          <a:xfrm>
            <a:off x="2834640" y="5577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834640" y="60350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623 orders  |  Dinner Rush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40680" y="5577840"/>
            <a:ext cx="242316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5"/>
          <p:cNvSpPr/>
          <p:nvPr/>
        </p:nvSpPr>
        <p:spPr>
          <a:xfrm>
            <a:off x="5440680" y="5577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PM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40680" y="60350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596 orders  |  Evening High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275320" y="1005840"/>
            <a:ext cx="3657600" cy="3017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8"/>
          <p:cNvSpPr/>
          <p:nvPr/>
        </p:nvSpPr>
        <p:spPr>
          <a:xfrm>
            <a:off x="8275320" y="100584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 REVENUE</a:t>
            </a:r>
            <a:endParaRPr lang="en-US" sz="10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8275320" y="1307592"/>
          <a:ext cx="3657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8275320" y="5257800"/>
            <a:ext cx="3657600" cy="3017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0"/>
          <p:cNvSpPr/>
          <p:nvPr/>
        </p:nvSpPr>
        <p:spPr>
          <a:xfrm>
            <a:off x="8275320" y="52578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WEEKDAY  |  28% WEEKEND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275320" y="5577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traffic is nearly 3× higher — promotions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weekends could unlock significant revenue growth.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PERFORMING MENU ITEMS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Volume Leaders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5669280" cy="3017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05840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ITEMS BY REVENUE ($)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28600" y="1307592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005840"/>
            <a:ext cx="5669280" cy="3017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7"/>
          <p:cNvSpPr/>
          <p:nvPr/>
        </p:nvSpPr>
        <p:spPr>
          <a:xfrm>
            <a:off x="6263640" y="1005840"/>
            <a:ext cx="5669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ITEMS BY ORDER COUNT</a:t>
            </a:r>
            <a:endParaRPr lang="en-US" sz="10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63640" y="1307592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228600" y="4983480"/>
            <a:ext cx="2834640" cy="1554480"/>
          </a:xfrm>
          <a:prstGeom prst="rect">
            <a:avLst/>
          </a:prstGeom>
          <a:solidFill>
            <a:srgbClr val="DA020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28600" y="4983480"/>
            <a:ext cx="64008" cy="155448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4" name="Text 10"/>
          <p:cNvSpPr/>
          <p:nvPr/>
        </p:nvSpPr>
        <p:spPr>
          <a:xfrm>
            <a:off x="365760" y="5074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Meatball Marinara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5760" y="550468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Revenue: $4,225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200400" y="4983480"/>
            <a:ext cx="2834640" cy="1554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0" y="4983480"/>
            <a:ext cx="64008" cy="155448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8" name="Text 14"/>
          <p:cNvSpPr/>
          <p:nvPr/>
        </p:nvSpPr>
        <p:spPr>
          <a:xfrm>
            <a:off x="3337560" y="5074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Mac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37560" y="550468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Orders: 622 — Iconic &amp; Consistent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72200" y="4983480"/>
            <a:ext cx="2834640" cy="15544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72200" y="4983480"/>
            <a:ext cx="64008" cy="155448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2" name="Text 18"/>
          <p:cNvSpPr/>
          <p:nvPr/>
        </p:nvSpPr>
        <p:spPr>
          <a:xfrm>
            <a:off x="6309360" y="5074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Angus Third Pounder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309360" y="550468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Price Leader: $7.99 avg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9144000" y="4983480"/>
            <a:ext cx="2834640" cy="155448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144000" y="4983480"/>
            <a:ext cx="64008" cy="155448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6" name="Text 22"/>
          <p:cNvSpPr/>
          <p:nvPr/>
        </p:nvSpPr>
        <p:spPr>
          <a:xfrm>
            <a:off x="9281160" y="5074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Bulgogi Burger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281160" y="550468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in Both Revenue &amp; Volume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INSIGHTS &amp;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 from EDA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5760720" cy="1691640"/>
          </a:xfrm>
          <a:prstGeom prst="rect">
            <a:avLst/>
          </a:prstGeom>
          <a:solidFill>
            <a:srgbClr val="1E1E35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005840"/>
            <a:ext cx="594360" cy="169164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0584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1155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Burger Category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 generate 35% of all revenue. Introduce limited-edition flavors and meal bundles to sustain dominance and increase average order size above the current $11.36 per order.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880360"/>
            <a:ext cx="5760720" cy="1691640"/>
          </a:xfrm>
          <a:prstGeom prst="rect">
            <a:avLst/>
          </a:prstGeom>
          <a:solidFill>
            <a:srgbClr val="1E1E35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" y="2880360"/>
            <a:ext cx="594360" cy="1691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288036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9900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Weekend Sales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3375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revenue is only 28% of total despite being 2 days of 7. Launch weekend-only promotions, family meal deals, and loyalty points to close the weekday/weekend gap.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4754880"/>
            <a:ext cx="5760720" cy="1691640"/>
          </a:xfrm>
          <a:prstGeom prst="rect">
            <a:avLst/>
          </a:prstGeom>
          <a:solidFill>
            <a:srgbClr val="1E1E35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" y="4754880"/>
            <a:ext cx="594360" cy="1691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475488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48646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on Peak Hours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2120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(12PM, 647 orders) and Dinner (5PM, 623 orders) are clear peaks. Pre-staffing, faster ordering lanes, and targeted app push notifications 30 min before peaks can drive revenue.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5760720" cy="1691640"/>
          </a:xfrm>
          <a:prstGeom prst="rect">
            <a:avLst/>
          </a:prstGeom>
          <a:solidFill>
            <a:srgbClr val="1E1E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005840"/>
            <a:ext cx="594360" cy="16916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00584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3720" y="11155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Pasta &amp; Sandwich Growth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14630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($9.1K) and Sandwiches ($8.1K) are underrated revenue pillars. Feature them more prominently in menus and digital campaigns to drive additional traffic.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2880360"/>
            <a:ext cx="5760720" cy="1691640"/>
          </a:xfrm>
          <a:prstGeom prst="rect">
            <a:avLst/>
          </a:prstGeom>
          <a:solidFill>
            <a:srgbClr val="1E1E35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2880360"/>
            <a:ext cx="594360" cy="16916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88036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03720" y="29900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Premium Items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33375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items like Angus Third Pounder ($7.99) and Bulgogi Burger rank in both revenue and volume top-5. Bundle these as premium meal upsells to raise per-order revenue.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4754880"/>
            <a:ext cx="5760720" cy="1691640"/>
          </a:xfrm>
          <a:prstGeom prst="rect">
            <a:avLst/>
          </a:prstGeom>
          <a:solidFill>
            <a:srgbClr val="1E1E35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4754880"/>
            <a:ext cx="594360" cy="169164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75488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03720" y="48646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Slow Hours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3720" y="52120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10PM–11PM see sharp drop-offs (152–4 orders). Consider late-night promotional pricing or early closing to optimize operational costs during low-traffic windows.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Q1 2023 Sales EDA  |  Data Analytics Team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2026-05-10T15:03:07Z</dcterms:created>
  <dcterms:modified xsi:type="dcterms:W3CDTF">2026-05-10T15:03:07Z</dcterms:modified>
</cp:coreProperties>
</file>